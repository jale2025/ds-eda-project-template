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6" r:id="rId2"/>
    <p:sldId id="269" r:id="rId3"/>
    <p:sldId id="270" r:id="rId4"/>
    <p:sldId id="271" r:id="rId5"/>
    <p:sldId id="280" r:id="rId6"/>
    <p:sldId id="272" r:id="rId7"/>
    <p:sldId id="274" r:id="rId8"/>
    <p:sldId id="276" r:id="rId9"/>
    <p:sldId id="275" r:id="rId10"/>
    <p:sldId id="277" r:id="rId11"/>
    <p:sldId id="278" r:id="rId12"/>
    <p:sldId id="279" r:id="rId13"/>
    <p:sldId id="281" r:id="rId1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4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BE7E5C-0441-0D0A-347C-09591A1E78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93AB1FC-4165-88C1-31D8-0947FC4F56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B86C0AA-204E-EE85-170C-9B125CCA6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06FF8-02A3-4EB8-B363-E6B63A88208B}" type="datetimeFigureOut">
              <a:rPr lang="de-DE" smtClean="0"/>
              <a:t>06.03.2026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5ECE0FB-6650-861D-6C8E-45CAC5D7CB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D3BAF91-A8DF-C7ED-73D4-B178C1411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14F3D-16B1-4D7D-ADC9-3FC678706ED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55559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412DBC-3768-1750-1953-905B3AA78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8197FB8-0ABC-1003-D4A2-100FB1EBF8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C20E3A1-7867-4E4A-1DB8-FE40458CCF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06FF8-02A3-4EB8-B363-E6B63A88208B}" type="datetimeFigureOut">
              <a:rPr lang="de-DE" smtClean="0"/>
              <a:t>06.03.2026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43A6B7C-E169-1FC5-2179-04ED3B9DB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E799655-9CDF-6C56-0AB4-52EA9EA57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14F3D-16B1-4D7D-ADC9-3FC678706ED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088723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9BD5C2D-5936-8579-EFAC-3B3B2BF33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A4DA667-4D81-9103-43D7-81985916B5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272993B-0E14-BA27-4179-1951E55EF8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06FF8-02A3-4EB8-B363-E6B63A88208B}" type="datetimeFigureOut">
              <a:rPr lang="de-DE" smtClean="0"/>
              <a:t>06.03.2026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474069D-C66A-33C1-52F7-C1CD8B86B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F0D9475-5B22-8269-28E8-6247B9E93D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14F3D-16B1-4D7D-ADC9-3FC678706ED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987227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998582-A3D8-791E-4ED0-A770A98972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8D2D55-187F-BD0E-90C8-A18EC15CAA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D54C567-D0CC-8434-D8C5-5F357C88B1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256C031-3858-5E9F-2DF3-9E277B8E9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06FF8-02A3-4EB8-B363-E6B63A88208B}" type="datetimeFigureOut">
              <a:rPr lang="de-DE" smtClean="0"/>
              <a:t>06.03.2026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B35AF0B-9D74-7467-487B-EB1B0B5698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B9F8898-E347-51D6-0C1F-7C5AF5CBC0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14F3D-16B1-4D7D-ADC9-3FC678706ED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111789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CFFD1E-A898-A652-9075-3D1A568165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FF5ADEE-A51D-9434-682C-924746AC71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C5FB6F5-E3ED-0D9B-42D3-8A8D344C27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D93A5584-B1AB-CAD3-6A38-2C68FBA89C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848AA8BB-5819-C089-0A6A-E7862A2AF1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6038C101-716A-6EEA-6B6C-6279FA03B1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06FF8-02A3-4EB8-B363-E6B63A88208B}" type="datetimeFigureOut">
              <a:rPr lang="de-DE" smtClean="0"/>
              <a:t>06.03.2026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E8CB4D97-6570-C1E4-BF04-434CF6C4E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F4456893-3256-B0DA-9A00-4E98506B0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14F3D-16B1-4D7D-ADC9-3FC678706ED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77229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8B2FE8-BFB0-8E7E-E372-191A6BF29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3BDE2D1-8B58-E18A-4C8E-7851BE8AFD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06FF8-02A3-4EB8-B363-E6B63A88208B}" type="datetimeFigureOut">
              <a:rPr lang="de-DE" smtClean="0"/>
              <a:t>06.03.2026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D5845F0-D5ED-7779-E158-818F8793B4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BAB273A-4698-37B7-1417-0E802FB27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14F3D-16B1-4D7D-ADC9-3FC678706ED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237872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FA6C605-CC12-34C7-9AA6-EAEAD7A042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06FF8-02A3-4EB8-B363-E6B63A88208B}" type="datetimeFigureOut">
              <a:rPr lang="de-DE" smtClean="0"/>
              <a:t>06.03.2026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885CE4B-42DA-F379-3579-F1282B60F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3AADCAB-D6A7-C39B-9495-099022C08F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14F3D-16B1-4D7D-ADC9-3FC678706ED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904686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C7B6AF-9D7F-D569-F409-FEDF69250A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0CA3F19-CA86-7CA2-48F1-59C34B29AF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F5E5245-DBFA-D78D-E826-F7FB85116C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3E36C61-0A6F-67D8-4736-BAB33C4C38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06FF8-02A3-4EB8-B363-E6B63A88208B}" type="datetimeFigureOut">
              <a:rPr lang="de-DE" smtClean="0"/>
              <a:t>06.03.2026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6BEFC25-BCE9-7889-9E38-07105A33BE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3E9CF43-BA8E-204B-B59B-974FB8A1E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14F3D-16B1-4D7D-ADC9-3FC678706ED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845666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5D0806-DA1F-F233-6177-E3B9323028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A68C0902-8F66-7514-E3D9-5EBB323E852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BCACF14-46BF-B812-B7E9-26FEC2ADEC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BF8A361-D0B0-7246-C000-D3990FE2F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06FF8-02A3-4EB8-B363-E6B63A88208B}" type="datetimeFigureOut">
              <a:rPr lang="de-DE" smtClean="0"/>
              <a:t>06.03.2026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2896383-BBFC-719C-F430-922DB06F0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81DB1F4-6BB9-AE05-016D-C7E09A858B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14F3D-16B1-4D7D-ADC9-3FC678706ED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52579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0479035-D32A-1977-50DC-0C810E9B78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309BD95-BC16-F2BD-2328-930A9ED5DE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3AC7943-0676-ABBF-27FB-26C28DE615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06FF8-02A3-4EB8-B363-E6B63A88208B}" type="datetimeFigureOut">
              <a:rPr lang="de-DE" smtClean="0"/>
              <a:t>06.03.2026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D12EC34-7BC0-C03C-53BC-8599AB93E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87573BE-D9BD-C183-AD66-D3A833D0E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14F3D-16B1-4D7D-ADC9-3FC678706ED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62603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1273488B-129B-A477-74FE-CDD2A9DBA5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C2428FA3-FFA5-EADA-9590-6BF92E3AD9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1E77140-832C-C9D0-6D58-0396796AD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D06FF8-02A3-4EB8-B363-E6B63A88208B}" type="datetimeFigureOut">
              <a:rPr lang="de-DE" smtClean="0"/>
              <a:t>06.03.2026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A20DA86-1B5A-53DE-ECAE-5B3662C599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C191EBB-1926-6979-5672-F7CC75AF2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514F3D-16B1-4D7D-ADC9-3FC678706ED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89032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90A59747-5B83-78EA-3DB0-5F58E215AB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A9040D7-9170-FF87-D470-68EA8022D2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85F90A0-6DE3-783A-3397-B444C999D6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D06FF8-02A3-4EB8-B363-E6B63A88208B}" type="datetimeFigureOut">
              <a:rPr lang="de-DE" smtClean="0"/>
              <a:t>06.03.2026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71997DC-44C2-30F2-F5E3-7B8F594CA8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A47CB22-2FAD-4468-AAE9-B25B3F171E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514F3D-16B1-4D7D-ADC9-3FC678706EDC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060143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0C68F5-8500-A408-64BB-A825820C8E4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King County Housing Data</a:t>
            </a:r>
            <a:br>
              <a:rPr lang="en-US" dirty="0"/>
            </a:br>
            <a:r>
              <a:rPr lang="en-US" dirty="0"/>
              <a:t>and Insights of customer</a:t>
            </a:r>
            <a:br>
              <a:rPr lang="en-US" dirty="0"/>
            </a:br>
            <a:r>
              <a:rPr lang="en-US" dirty="0"/>
              <a:t>services</a:t>
            </a:r>
            <a:endParaRPr lang="de-DE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A92082A-9B6A-608C-A6EC-5E25B5F864E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Group 5</a:t>
            </a:r>
          </a:p>
          <a:p>
            <a:r>
              <a:rPr lang="de-DE" dirty="0"/>
              <a:t>Niklas &amp; Jan</a:t>
            </a:r>
          </a:p>
        </p:txBody>
      </p:sp>
    </p:spTree>
    <p:extLst>
      <p:ext uri="{BB962C8B-B14F-4D97-AF65-F5344CB8AC3E}">
        <p14:creationId xmlns:p14="http://schemas.microsoft.com/office/powerpoint/2010/main" val="6451873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895196-A310-913A-4500-942F283609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Table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contents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EB7C6CA-5466-F6A5-5415-64E0DFA38F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The </a:t>
            </a:r>
            <a:r>
              <a:rPr lang="de-DE" dirty="0" err="1"/>
              <a:t>client</a:t>
            </a: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Dataset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Data </a:t>
            </a:r>
            <a:r>
              <a:rPr lang="de-DE" dirty="0" err="1"/>
              <a:t>cleaning</a:t>
            </a: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Hypothesis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 err="1"/>
              <a:t>Recommendation</a:t>
            </a: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727016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66CEE6-2629-FA1B-7E88-50E480B33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Nicole Johnson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F14CFC0-0FE9-212A-88D7-8290278A63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Stakeholder: </a:t>
            </a:r>
            <a:r>
              <a:rPr lang="de-DE" dirty="0" err="1"/>
              <a:t>Buyer</a:t>
            </a: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Lively and </a:t>
            </a:r>
            <a:r>
              <a:rPr lang="de-DE" dirty="0" err="1"/>
              <a:t>central</a:t>
            </a:r>
            <a:r>
              <a:rPr lang="de-DE" dirty="0"/>
              <a:t> </a:t>
            </a:r>
            <a:r>
              <a:rPr lang="de-DE" dirty="0" err="1"/>
              <a:t>neighborhood</a:t>
            </a: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Mid </a:t>
            </a:r>
            <a:r>
              <a:rPr lang="de-DE" dirty="0" err="1"/>
              <a:t>price</a:t>
            </a:r>
            <a:r>
              <a:rPr lang="de-DE" dirty="0"/>
              <a:t> </a:t>
            </a:r>
            <a:r>
              <a:rPr lang="de-DE" dirty="0" err="1"/>
              <a:t>range</a:t>
            </a: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Buy </a:t>
            </a:r>
            <a:r>
              <a:rPr lang="de-DE" dirty="0" err="1"/>
              <a:t>within</a:t>
            </a:r>
            <a:r>
              <a:rPr lang="de-DE" dirty="0"/>
              <a:t> a </a:t>
            </a:r>
            <a:r>
              <a:rPr lang="de-DE" dirty="0" err="1"/>
              <a:t>year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362908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D0F1070-B336-E9FC-3FE5-5E0514004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Dataset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B6D588B-EFBE-26BF-435F-D53530670C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King </a:t>
            </a:r>
            <a:r>
              <a:rPr lang="de-DE" dirty="0" err="1"/>
              <a:t>country</a:t>
            </a:r>
            <a:r>
              <a:rPr lang="de-DE" dirty="0"/>
              <a:t> </a:t>
            </a:r>
            <a:r>
              <a:rPr lang="de-DE" dirty="0" err="1"/>
              <a:t>house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Seattle</a:t>
            </a:r>
          </a:p>
          <a:p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tables</a:t>
            </a:r>
            <a:r>
              <a:rPr lang="de-DE" dirty="0"/>
              <a:t> </a:t>
            </a:r>
          </a:p>
          <a:p>
            <a:r>
              <a:rPr lang="de-DE" dirty="0"/>
              <a:t>King </a:t>
            </a:r>
            <a:r>
              <a:rPr lang="de-DE" dirty="0" err="1"/>
              <a:t>country</a:t>
            </a:r>
            <a:r>
              <a:rPr lang="de-DE" dirty="0"/>
              <a:t> </a:t>
            </a:r>
            <a:r>
              <a:rPr lang="de-DE" dirty="0" err="1"/>
              <a:t>house</a:t>
            </a:r>
            <a:r>
              <a:rPr lang="de-DE" dirty="0"/>
              <a:t> </a:t>
            </a:r>
            <a:r>
              <a:rPr lang="de-DE" dirty="0" err="1"/>
              <a:t>details</a:t>
            </a:r>
            <a:endParaRPr lang="de-DE" dirty="0"/>
          </a:p>
          <a:p>
            <a:pPr lvl="1"/>
            <a:r>
              <a:rPr lang="de-DE" dirty="0" err="1"/>
              <a:t>Contains</a:t>
            </a:r>
            <a:r>
              <a:rPr lang="de-DE" dirty="0"/>
              <a:t> 19 </a:t>
            </a:r>
            <a:r>
              <a:rPr lang="de-DE" dirty="0" err="1"/>
              <a:t>columns</a:t>
            </a:r>
            <a:r>
              <a:rPr lang="de-DE" dirty="0"/>
              <a:t> like </a:t>
            </a:r>
            <a:r>
              <a:rPr lang="de-DE" dirty="0" err="1"/>
              <a:t>number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bathrooms</a:t>
            </a:r>
            <a:r>
              <a:rPr lang="de-DE" dirty="0"/>
              <a:t>, </a:t>
            </a:r>
            <a:r>
              <a:rPr lang="de-DE" dirty="0" err="1"/>
              <a:t>bedrooms</a:t>
            </a:r>
            <a:r>
              <a:rPr lang="de-DE" dirty="0"/>
              <a:t> and </a:t>
            </a:r>
            <a:r>
              <a:rPr lang="de-DE" dirty="0" err="1"/>
              <a:t>square</a:t>
            </a:r>
            <a:r>
              <a:rPr lang="de-DE" dirty="0"/>
              <a:t> </a:t>
            </a:r>
            <a:r>
              <a:rPr lang="de-DE" dirty="0" err="1"/>
              <a:t>meters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well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quality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view</a:t>
            </a:r>
            <a:endParaRPr lang="de-DE" dirty="0"/>
          </a:p>
          <a:p>
            <a:pPr lvl="1"/>
            <a:r>
              <a:rPr lang="de-DE" dirty="0"/>
              <a:t>Raw </a:t>
            </a:r>
            <a:r>
              <a:rPr lang="de-DE" dirty="0" err="1"/>
              <a:t>data</a:t>
            </a:r>
            <a:r>
              <a:rPr lang="de-DE" dirty="0"/>
              <a:t>: 21420 </a:t>
            </a:r>
            <a:r>
              <a:rPr lang="de-DE" dirty="0" err="1"/>
              <a:t>rows</a:t>
            </a:r>
            <a:endParaRPr lang="de-DE" dirty="0"/>
          </a:p>
          <a:p>
            <a:r>
              <a:rPr lang="de-DE" dirty="0"/>
              <a:t>King </a:t>
            </a:r>
            <a:r>
              <a:rPr lang="de-DE" dirty="0" err="1"/>
              <a:t>country</a:t>
            </a:r>
            <a:r>
              <a:rPr lang="de-DE" dirty="0"/>
              <a:t> </a:t>
            </a:r>
            <a:r>
              <a:rPr lang="de-DE" dirty="0" err="1"/>
              <a:t>house</a:t>
            </a:r>
            <a:r>
              <a:rPr lang="de-DE" dirty="0"/>
              <a:t> </a:t>
            </a:r>
            <a:r>
              <a:rPr lang="de-DE" dirty="0" err="1"/>
              <a:t>sales</a:t>
            </a:r>
            <a:endParaRPr lang="de-DE" dirty="0"/>
          </a:p>
          <a:p>
            <a:pPr lvl="1"/>
            <a:r>
              <a:rPr lang="de-DE" dirty="0" err="1"/>
              <a:t>Contains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four</a:t>
            </a:r>
            <a:r>
              <a:rPr lang="de-DE" dirty="0"/>
              <a:t> </a:t>
            </a:r>
            <a:r>
              <a:rPr lang="de-DE" dirty="0" err="1"/>
              <a:t>columns</a:t>
            </a:r>
            <a:r>
              <a:rPr lang="de-DE" dirty="0"/>
              <a:t> </a:t>
            </a:r>
            <a:r>
              <a:rPr lang="de-DE" dirty="0" err="1"/>
              <a:t>id</a:t>
            </a:r>
            <a:r>
              <a:rPr lang="de-DE" dirty="0"/>
              <a:t>, </a:t>
            </a:r>
            <a:r>
              <a:rPr lang="de-DE" dirty="0" err="1"/>
              <a:t>house</a:t>
            </a:r>
            <a:r>
              <a:rPr lang="de-DE" dirty="0"/>
              <a:t> </a:t>
            </a:r>
            <a:r>
              <a:rPr lang="de-DE" dirty="0" err="1"/>
              <a:t>id</a:t>
            </a:r>
            <a:r>
              <a:rPr lang="de-DE" dirty="0"/>
              <a:t>, </a:t>
            </a:r>
            <a:r>
              <a:rPr lang="de-DE" dirty="0" err="1"/>
              <a:t>price</a:t>
            </a:r>
            <a:r>
              <a:rPr lang="de-DE" dirty="0"/>
              <a:t> and date</a:t>
            </a:r>
          </a:p>
          <a:p>
            <a:pPr lvl="1"/>
            <a:r>
              <a:rPr lang="de-DE" dirty="0"/>
              <a:t>Raw </a:t>
            </a:r>
            <a:r>
              <a:rPr lang="de-DE" dirty="0" err="1"/>
              <a:t>data</a:t>
            </a:r>
            <a:r>
              <a:rPr lang="de-DE" dirty="0"/>
              <a:t>: 21597 </a:t>
            </a:r>
            <a:r>
              <a:rPr lang="de-DE" dirty="0" err="1"/>
              <a:t>rows</a:t>
            </a:r>
            <a:endParaRPr lang="de-DE" dirty="0"/>
          </a:p>
          <a:p>
            <a:pPr lvl="1"/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712619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82BCC7-0AB8-4CA6-C229-A19B93EEA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Data </a:t>
            </a:r>
            <a:r>
              <a:rPr lang="de-DE" dirty="0" err="1"/>
              <a:t>cleaning</a:t>
            </a:r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BAA1631-52B1-E679-EB67-D0DCBF39A1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84738" y="1452062"/>
            <a:ext cx="10512424" cy="823912"/>
          </a:xfrm>
        </p:spPr>
        <p:txBody>
          <a:bodyPr anchor="t"/>
          <a:lstStyle/>
          <a:p>
            <a:r>
              <a:rPr lang="de-DE" dirty="0" err="1"/>
              <a:t>Filtering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central</a:t>
            </a:r>
            <a:r>
              <a:rPr lang="de-DE" dirty="0"/>
              <a:t> </a:t>
            </a:r>
            <a:r>
              <a:rPr lang="de-DE" dirty="0" err="1"/>
              <a:t>neighborhood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zip</a:t>
            </a:r>
            <a:r>
              <a:rPr lang="de-DE" dirty="0"/>
              <a:t> code</a:t>
            </a:r>
          </a:p>
        </p:txBody>
      </p:sp>
      <p:pic>
        <p:nvPicPr>
          <p:cNvPr id="16" name="Inhaltsplatzhalter 15" descr="Ein Bild, das Karte, Text, Atlas enthält.&#10;&#10;KI-generierte Inhalte können fehlerhaft sein.">
            <a:extLst>
              <a:ext uri="{FF2B5EF4-FFF2-40B4-BE49-F238E27FC236}">
                <a16:creationId xmlns:a16="http://schemas.microsoft.com/office/drawing/2014/main" id="{E0517977-1F6A-49B0-427C-5B5ADEC2419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611" y="2133600"/>
            <a:ext cx="4973052" cy="4056063"/>
          </a:xfrm>
        </p:spPr>
      </p:pic>
      <p:pic>
        <p:nvPicPr>
          <p:cNvPr id="18" name="Inhaltsplatzhalter 17" descr="Ein Bild, das Karte, Text, Atlas enthält.&#10;&#10;KI-generierte Inhalte können fehlerhaft sein.">
            <a:extLst>
              <a:ext uri="{FF2B5EF4-FFF2-40B4-BE49-F238E27FC236}">
                <a16:creationId xmlns:a16="http://schemas.microsoft.com/office/drawing/2014/main" id="{7A496F8D-0048-13C9-59AC-C3C4E7EF5841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4337" y="2133600"/>
            <a:ext cx="4973052" cy="4056063"/>
          </a:xfrm>
        </p:spPr>
      </p:pic>
    </p:spTree>
    <p:extLst>
      <p:ext uri="{BB962C8B-B14F-4D97-AF65-F5344CB8AC3E}">
        <p14:creationId xmlns:p14="http://schemas.microsoft.com/office/powerpoint/2010/main" val="27793899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B67729-EC38-1EF1-D658-D3D51E940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Hypothesis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51E1F0A-64B5-D676-183D-FE6F20FDC5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dirty="0"/>
              <a:t>Hypothesis 1:</a:t>
            </a:r>
          </a:p>
          <a:p>
            <a:pPr marL="0" indent="0">
              <a:buNone/>
            </a:pPr>
            <a:r>
              <a:rPr lang="en-US" dirty="0"/>
              <a:t>The more square feet and/or square lot the location has the higher the price.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Hypothesis 2: </a:t>
            </a:r>
          </a:p>
          <a:p>
            <a:pPr marL="0" indent="0">
              <a:buNone/>
            </a:pPr>
            <a:r>
              <a:rPr lang="en-US" dirty="0"/>
              <a:t>There is at least one variable which has a bigger impact on the price than the others.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Hypothesis 3:</a:t>
            </a:r>
          </a:p>
          <a:p>
            <a:pPr marL="0" indent="0">
              <a:buNone/>
            </a:pPr>
            <a:r>
              <a:rPr lang="en-US" dirty="0"/>
              <a:t>The price for a house is lower in the first half of a year.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830130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0BF0CD-BE3D-9267-722D-D370E0B667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Hypothesis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3A329DF-91F2-3B97-379D-11E5487390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10512424" cy="823912"/>
          </a:xfrm>
        </p:spPr>
        <p:txBody>
          <a:bodyPr/>
          <a:lstStyle/>
          <a:p>
            <a:r>
              <a:rPr lang="de-DE" dirty="0"/>
              <a:t>Hypothesis 1: </a:t>
            </a:r>
            <a:r>
              <a:rPr lang="en-US" dirty="0"/>
              <a:t>The more square feet and/or square lot the location has the higher the price.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8AEF6D4-262B-FB9C-93F4-5628A4093C5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582526" y="2505075"/>
            <a:ext cx="2772862" cy="3684588"/>
          </a:xfrm>
        </p:spPr>
        <p:txBody>
          <a:bodyPr/>
          <a:lstStyle/>
          <a:p>
            <a:endParaRPr lang="de-DE" dirty="0"/>
          </a:p>
        </p:txBody>
      </p:sp>
      <p:pic>
        <p:nvPicPr>
          <p:cNvPr id="12" name="Inhaltsplatzhalter 11" descr="Ein Bild, das Text, Screenshot, Reihe, parallel enthält.&#10;&#10;KI-generierte Inhalte können fehlerhaft sein.">
            <a:extLst>
              <a:ext uri="{FF2B5EF4-FFF2-40B4-BE49-F238E27FC236}">
                <a16:creationId xmlns:a16="http://schemas.microsoft.com/office/drawing/2014/main" id="{4719EDD3-A076-BFB4-D712-9B802C62EDB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788" y="2505075"/>
            <a:ext cx="7453980" cy="3684587"/>
          </a:xfrm>
        </p:spPr>
      </p:pic>
    </p:spTree>
    <p:extLst>
      <p:ext uri="{BB962C8B-B14F-4D97-AF65-F5344CB8AC3E}">
        <p14:creationId xmlns:p14="http://schemas.microsoft.com/office/powerpoint/2010/main" val="23487540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0BF0CD-BE3D-9267-722D-D370E0B667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Hypothesis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3A329DF-91F2-3B97-379D-11E5487390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10512424" cy="823912"/>
          </a:xfrm>
        </p:spPr>
        <p:txBody>
          <a:bodyPr/>
          <a:lstStyle/>
          <a:p>
            <a:r>
              <a:rPr lang="de-DE" dirty="0"/>
              <a:t>Hypothesis 1: </a:t>
            </a:r>
            <a:r>
              <a:rPr lang="en-US" dirty="0"/>
              <a:t>The more square feet and/or square lot the location has the higher the price.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8AEF6D4-262B-FB9C-93F4-5628A4093C5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582526" y="2505075"/>
            <a:ext cx="2772862" cy="3684588"/>
          </a:xfrm>
        </p:spPr>
        <p:txBody>
          <a:bodyPr/>
          <a:lstStyle/>
          <a:p>
            <a:endParaRPr lang="de-DE" dirty="0"/>
          </a:p>
        </p:txBody>
      </p:sp>
      <p:pic>
        <p:nvPicPr>
          <p:cNvPr id="13" name="Inhaltsplatzhalter 12" descr="Ein Bild, das Text, Screenshot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624D35B9-798E-56CD-BD14-C3B66A8621A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788" y="2505075"/>
            <a:ext cx="7470023" cy="3684588"/>
          </a:xfrm>
        </p:spPr>
      </p:pic>
    </p:spTree>
    <p:extLst>
      <p:ext uri="{BB962C8B-B14F-4D97-AF65-F5344CB8AC3E}">
        <p14:creationId xmlns:p14="http://schemas.microsoft.com/office/powerpoint/2010/main" val="20915107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0BF0CD-BE3D-9267-722D-D370E0B667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Hypothesis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3A329DF-91F2-3B97-379D-11E5487390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10512424" cy="823912"/>
          </a:xfrm>
        </p:spPr>
        <p:txBody>
          <a:bodyPr/>
          <a:lstStyle/>
          <a:p>
            <a:r>
              <a:rPr lang="de-DE" dirty="0"/>
              <a:t>Hypothesis 2: </a:t>
            </a:r>
            <a:r>
              <a:rPr lang="en-US" dirty="0"/>
              <a:t>There is at least one variable which has a bigger impact on the price than the others.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8AEF6D4-262B-FB9C-93F4-5628A4093C5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005010" y="2716128"/>
            <a:ext cx="2772862" cy="3684588"/>
          </a:xfrm>
        </p:spPr>
        <p:txBody>
          <a:bodyPr/>
          <a:lstStyle/>
          <a:p>
            <a:endParaRPr lang="de-DE" dirty="0"/>
          </a:p>
        </p:txBody>
      </p:sp>
      <p:pic>
        <p:nvPicPr>
          <p:cNvPr id="13" name="Inhaltsplatzhalter 12" descr="Ein Bild, das Screenshot, Muster, Quadrat, Rechteck enthält.&#10;&#10;KI-generierte Inhalte können fehlerhaft sein.">
            <a:extLst>
              <a:ext uri="{FF2B5EF4-FFF2-40B4-BE49-F238E27FC236}">
                <a16:creationId xmlns:a16="http://schemas.microsoft.com/office/drawing/2014/main" id="{8FF14A41-3020-B49E-C1FD-A1D0D7F7D7F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703" y="2617369"/>
            <a:ext cx="6250823" cy="3805203"/>
          </a:xfrm>
        </p:spPr>
      </p:pic>
    </p:spTree>
    <p:extLst>
      <p:ext uri="{BB962C8B-B14F-4D97-AF65-F5344CB8AC3E}">
        <p14:creationId xmlns:p14="http://schemas.microsoft.com/office/powerpoint/2010/main" val="3270378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0BF0CD-BE3D-9267-722D-D370E0B667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Hypothesis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3A329DF-91F2-3B97-379D-11E5487390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10512424" cy="823912"/>
          </a:xfrm>
        </p:spPr>
        <p:txBody>
          <a:bodyPr/>
          <a:lstStyle/>
          <a:p>
            <a:r>
              <a:rPr lang="de-DE" dirty="0"/>
              <a:t>Hypothesis 2: </a:t>
            </a:r>
            <a:r>
              <a:rPr lang="en-US" dirty="0"/>
              <a:t>There is at least one variable which has a bigger impact on the price than the others.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8AEF6D4-262B-FB9C-93F4-5628A4093C5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582526" y="2505075"/>
            <a:ext cx="2772862" cy="3684588"/>
          </a:xfrm>
        </p:spPr>
        <p:txBody>
          <a:bodyPr/>
          <a:lstStyle/>
          <a:p>
            <a:endParaRPr lang="de-DE" dirty="0"/>
          </a:p>
        </p:txBody>
      </p:sp>
      <p:pic>
        <p:nvPicPr>
          <p:cNvPr id="13" name="Inhaltsplatzhalter 12" descr="Ein Bild, das Text, Screenshot, Schrift, Reihe enthält.&#10;&#10;KI-generierte Inhalte können fehlerhaft sein.">
            <a:extLst>
              <a:ext uri="{FF2B5EF4-FFF2-40B4-BE49-F238E27FC236}">
                <a16:creationId xmlns:a16="http://schemas.microsoft.com/office/drawing/2014/main" id="{FFD3F0D4-0528-5FF7-96F5-47A166B0EF8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788" y="2505075"/>
            <a:ext cx="7405854" cy="3684588"/>
          </a:xfrm>
        </p:spPr>
      </p:pic>
    </p:spTree>
    <p:extLst>
      <p:ext uri="{BB962C8B-B14F-4D97-AF65-F5344CB8AC3E}">
        <p14:creationId xmlns:p14="http://schemas.microsoft.com/office/powerpoint/2010/main" val="29512974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0BF0CD-BE3D-9267-722D-D370E0B667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Hypothesis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3A329DF-91F2-3B97-379D-11E5487390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10512424" cy="823912"/>
          </a:xfrm>
        </p:spPr>
        <p:txBody>
          <a:bodyPr anchor="t">
            <a:normAutofit/>
          </a:bodyPr>
          <a:lstStyle/>
          <a:p>
            <a:r>
              <a:rPr lang="de-DE" dirty="0"/>
              <a:t>Hypothesis 3: </a:t>
            </a:r>
            <a:r>
              <a:rPr lang="en-US" dirty="0"/>
              <a:t>The price for a house is lower in the first half of a year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8AEF6D4-262B-FB9C-93F4-5628A4093C5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582526" y="2505075"/>
            <a:ext cx="2772862" cy="3684588"/>
          </a:xfrm>
        </p:spPr>
        <p:txBody>
          <a:bodyPr/>
          <a:lstStyle/>
          <a:p>
            <a:endParaRPr lang="de-DE" dirty="0"/>
          </a:p>
        </p:txBody>
      </p:sp>
      <p:pic>
        <p:nvPicPr>
          <p:cNvPr id="13" name="Inhaltsplatzhalter 12" descr="Ein Bild, das Text, Screenshot, Reihe, Diagramm enthält.&#10;&#10;KI-generierte Inhalte können fehlerhaft sein.">
            <a:extLst>
              <a:ext uri="{FF2B5EF4-FFF2-40B4-BE49-F238E27FC236}">
                <a16:creationId xmlns:a16="http://schemas.microsoft.com/office/drawing/2014/main" id="{BE1FDE1C-7042-9057-F978-5A80753B9E4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612" y="2454442"/>
            <a:ext cx="7043521" cy="3911684"/>
          </a:xfrm>
        </p:spPr>
      </p:pic>
    </p:spTree>
    <p:extLst>
      <p:ext uri="{BB962C8B-B14F-4D97-AF65-F5344CB8AC3E}">
        <p14:creationId xmlns:p14="http://schemas.microsoft.com/office/powerpoint/2010/main" val="24643448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0BF0CD-BE3D-9267-722D-D370E0B667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Recommendation</a:t>
            </a:r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3A329DF-91F2-3B97-379D-11E5487390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10512424" cy="823912"/>
          </a:xfrm>
        </p:spPr>
        <p:txBody>
          <a:bodyPr anchor="t">
            <a:normAutofit/>
          </a:bodyPr>
          <a:lstStyle/>
          <a:p>
            <a:r>
              <a:rPr lang="de-DE" dirty="0"/>
              <a:t>Hypothesis 3: </a:t>
            </a:r>
            <a:r>
              <a:rPr lang="en-US" dirty="0"/>
              <a:t>The price for a house is lower in the first half of a year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8AEF6D4-262B-FB9C-93F4-5628A4093C5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579350" y="2491539"/>
            <a:ext cx="2772862" cy="3684588"/>
          </a:xfrm>
        </p:spPr>
        <p:txBody>
          <a:bodyPr/>
          <a:lstStyle/>
          <a:p>
            <a:r>
              <a:rPr lang="en-US" sz="2400" dirty="0"/>
              <a:t>98188 is the cheapest zip code in Seattle</a:t>
            </a:r>
          </a:p>
          <a:p>
            <a:endParaRPr lang="de-DE" dirty="0"/>
          </a:p>
        </p:txBody>
      </p:sp>
      <p:pic>
        <p:nvPicPr>
          <p:cNvPr id="13" name="Inhaltsplatzhalter 12" descr="Ein Bild, das Text, Reihe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7150BCB9-895A-DC8B-6221-F75DDCE16BA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612" y="2308714"/>
            <a:ext cx="7325643" cy="4088423"/>
          </a:xfrm>
        </p:spPr>
      </p:pic>
    </p:spTree>
    <p:extLst>
      <p:ext uri="{BB962C8B-B14F-4D97-AF65-F5344CB8AC3E}">
        <p14:creationId xmlns:p14="http://schemas.microsoft.com/office/powerpoint/2010/main" val="28697242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800DCF27-AC54-2EC6-793B-6108B2AD3355}"/>
              </a:ext>
            </a:extLst>
          </p:cNvPr>
          <p:cNvSpPr txBox="1"/>
          <p:nvPr/>
        </p:nvSpPr>
        <p:spPr>
          <a:xfrm>
            <a:off x="882316" y="994611"/>
            <a:ext cx="81333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5400" dirty="0" err="1"/>
              <a:t>Thanks</a:t>
            </a:r>
            <a:r>
              <a:rPr lang="de-DE" sz="5400" dirty="0"/>
              <a:t> </a:t>
            </a:r>
            <a:r>
              <a:rPr lang="de-DE" sz="5400" dirty="0" err="1"/>
              <a:t>for</a:t>
            </a:r>
            <a:r>
              <a:rPr lang="de-DE" sz="5400" dirty="0"/>
              <a:t> </a:t>
            </a:r>
            <a:r>
              <a:rPr lang="de-DE" sz="5400" dirty="0" err="1"/>
              <a:t>your</a:t>
            </a:r>
            <a:r>
              <a:rPr lang="de-DE" sz="5400" dirty="0"/>
              <a:t> </a:t>
            </a:r>
            <a:r>
              <a:rPr lang="de-DE" sz="5400" dirty="0" err="1"/>
              <a:t>attention</a:t>
            </a:r>
            <a:endParaRPr lang="de-DE" sz="5400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ED6C9CE0-C766-0AA0-F533-EF17729A0D3E}"/>
              </a:ext>
            </a:extLst>
          </p:cNvPr>
          <p:cNvSpPr txBox="1"/>
          <p:nvPr/>
        </p:nvSpPr>
        <p:spPr>
          <a:xfrm>
            <a:off x="882316" y="2659559"/>
            <a:ext cx="763604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4400" dirty="0" err="1"/>
              <a:t>We</a:t>
            </a:r>
            <a:r>
              <a:rPr lang="de-DE" sz="4400" dirty="0"/>
              <a:t> </a:t>
            </a:r>
            <a:r>
              <a:rPr lang="de-DE" sz="4400" dirty="0" err="1"/>
              <a:t>wish</a:t>
            </a:r>
            <a:r>
              <a:rPr lang="de-DE" sz="4400" dirty="0"/>
              <a:t> Nicole all </a:t>
            </a:r>
            <a:r>
              <a:rPr lang="de-DE" sz="4400" dirty="0" err="1"/>
              <a:t>the</a:t>
            </a:r>
            <a:r>
              <a:rPr lang="de-DE" sz="4400" dirty="0"/>
              <a:t> </a:t>
            </a:r>
            <a:r>
              <a:rPr lang="de-DE" sz="4400" dirty="0" err="1"/>
              <a:t>best</a:t>
            </a:r>
            <a:r>
              <a:rPr lang="de-DE" sz="4400" dirty="0"/>
              <a:t> …</a:t>
            </a:r>
          </a:p>
        </p:txBody>
      </p:sp>
    </p:spTree>
    <p:extLst>
      <p:ext uri="{BB962C8B-B14F-4D97-AF65-F5344CB8AC3E}">
        <p14:creationId xmlns:p14="http://schemas.microsoft.com/office/powerpoint/2010/main" val="17830890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310</Words>
  <Application>Microsoft Office PowerPoint</Application>
  <PresentationFormat>Breitbild</PresentationFormat>
  <Paragraphs>49</Paragraphs>
  <Slides>13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</vt:lpstr>
      <vt:lpstr>King County Housing Data and Insights of customer services</vt:lpstr>
      <vt:lpstr>Table of contents</vt:lpstr>
      <vt:lpstr>Nicole Johnson</vt:lpstr>
      <vt:lpstr>Dataset</vt:lpstr>
      <vt:lpstr>Data cleaning</vt:lpstr>
      <vt:lpstr>Hypothesis</vt:lpstr>
      <vt:lpstr>Hypothesis</vt:lpstr>
      <vt:lpstr>Hypothesis</vt:lpstr>
      <vt:lpstr>Hypothesis</vt:lpstr>
      <vt:lpstr>Hypothesis</vt:lpstr>
      <vt:lpstr>Hypothesis</vt:lpstr>
      <vt:lpstr>Recommendation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leberinho leberinho</dc:creator>
  <cp:lastModifiedBy>leberinho leberinho</cp:lastModifiedBy>
  <cp:revision>9</cp:revision>
  <dcterms:created xsi:type="dcterms:W3CDTF">2026-03-06T10:10:24Z</dcterms:created>
  <dcterms:modified xsi:type="dcterms:W3CDTF">2026-03-06T11:52:51Z</dcterms:modified>
</cp:coreProperties>
</file>